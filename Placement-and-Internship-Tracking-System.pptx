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Corben"/>
      <p:regular r:id="rId16"/>
    </p:embeddedFont>
    <p:embeddedFont>
      <p:font typeface="Corben"/>
      <p:regular r:id="rId17"/>
    </p:embeddedFont>
    <p:embeddedFont>
      <p:font typeface="Nobile"/>
      <p:regular r:id="rId18"/>
    </p:embeddedFont>
    <p:embeddedFont>
      <p:font typeface="Nobile"/>
      <p:regular r:id="rId19"/>
    </p:embeddedFont>
    <p:embeddedFont>
      <p:font typeface="Nobile"/>
      <p:regular r:id="rId20"/>
    </p:embeddedFont>
    <p:embeddedFont>
      <p:font typeface="Nobile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8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2D9F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79" y="589478"/>
            <a:ext cx="5287923" cy="70506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81011" y="609719"/>
            <a:ext cx="7754779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Placement &amp; Internship Tracking System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6181011" y="2110264"/>
            <a:ext cx="775477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Database Management System (DBMS) Project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181011" y="2603183"/>
            <a:ext cx="7754779" cy="1123950"/>
          </a:xfrm>
          <a:prstGeom prst="roundRect">
            <a:avLst>
              <a:gd name="adj" fmla="val 7417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86989" y="280916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MD Asif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6386989" y="3223498"/>
            <a:ext cx="734282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Member 1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181011" y="3900726"/>
            <a:ext cx="7754779" cy="1123950"/>
          </a:xfrm>
          <a:prstGeom prst="roundRect">
            <a:avLst>
              <a:gd name="adj" fmla="val 7417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86989" y="410670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Kunal Agratam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6386989" y="4521041"/>
            <a:ext cx="734282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Member 2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181011" y="5198269"/>
            <a:ext cx="7754779" cy="1123950"/>
          </a:xfrm>
          <a:prstGeom prst="roundRect">
            <a:avLst>
              <a:gd name="adj" fmla="val 7417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86989" y="540424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Manish Singh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6386989" y="5818584"/>
            <a:ext cx="734282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Member 3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6181011" y="6495812"/>
            <a:ext cx="7754779" cy="1123950"/>
          </a:xfrm>
          <a:prstGeom prst="roundRect">
            <a:avLst>
              <a:gd name="adj" fmla="val 7417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86989" y="670179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Manas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6386989" y="7116128"/>
            <a:ext cx="734282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Member 4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6905" y="586145"/>
            <a:ext cx="4607362" cy="575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Problem Statement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905" y="1554956"/>
            <a:ext cx="4158496" cy="41584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72601" y="3366968"/>
            <a:ext cx="8108275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Universities and colleges face significant challenges in managing </a:t>
            </a:r>
            <a:pPr algn="l"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placement and internship activities</a:t>
            </a:r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across hundreds of students and multiple companies simultaneously.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956905" y="6050161"/>
            <a:ext cx="4138970" cy="1593294"/>
          </a:xfrm>
          <a:prstGeom prst="roundRect">
            <a:avLst>
              <a:gd name="adj" fmla="val 6887"/>
            </a:avLst>
          </a:prstGeom>
          <a:solidFill>
            <a:srgbClr val="F9F9FF">
              <a:alpha val="95000"/>
            </a:srgbClr>
          </a:solidFill>
          <a:ln w="22860">
            <a:solidFill>
              <a:srgbClr val="B8BFD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34045" y="6050161"/>
            <a:ext cx="91440" cy="1593294"/>
          </a:xfrm>
          <a:prstGeom prst="roundRect">
            <a:avLst>
              <a:gd name="adj" fmla="val 84651"/>
            </a:avLst>
          </a:prstGeom>
          <a:solidFill>
            <a:srgbClr val="4967E9"/>
          </a:solidFill>
          <a:ln/>
        </p:spPr>
      </p:sp>
      <p:sp>
        <p:nvSpPr>
          <p:cNvPr id="7" name="Text 4"/>
          <p:cNvSpPr/>
          <p:nvPr/>
        </p:nvSpPr>
        <p:spPr>
          <a:xfrm>
            <a:off x="1232535" y="6257211"/>
            <a:ext cx="230362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Manual Inefficiency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32535" y="6634877"/>
            <a:ext cx="3656290" cy="801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centralized system to track applications, interview schedules, and final results.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245537" y="6050161"/>
            <a:ext cx="4139089" cy="1593294"/>
          </a:xfrm>
          <a:prstGeom prst="roundRect">
            <a:avLst>
              <a:gd name="adj" fmla="val 6887"/>
            </a:avLst>
          </a:prstGeom>
          <a:solidFill>
            <a:srgbClr val="F9F9FF">
              <a:alpha val="95000"/>
            </a:srgbClr>
          </a:solidFill>
          <a:ln w="22860">
            <a:solidFill>
              <a:srgbClr val="B8BF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222677" y="6050161"/>
            <a:ext cx="91440" cy="1593294"/>
          </a:xfrm>
          <a:prstGeom prst="roundRect">
            <a:avLst>
              <a:gd name="adj" fmla="val 84651"/>
            </a:avLst>
          </a:prstGeom>
          <a:solidFill>
            <a:srgbClr val="4967E9"/>
          </a:solidFill>
          <a:ln/>
        </p:spPr>
      </p:sp>
      <p:sp>
        <p:nvSpPr>
          <p:cNvPr id="11" name="Text 8"/>
          <p:cNvSpPr/>
          <p:nvPr/>
        </p:nvSpPr>
        <p:spPr>
          <a:xfrm>
            <a:off x="5521166" y="6257211"/>
            <a:ext cx="230362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 Redundancy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521166" y="6634877"/>
            <a:ext cx="3656409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Repeated and inconsistent data across spreadsheets and physical records.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9534287" y="6050161"/>
            <a:ext cx="4138970" cy="1593294"/>
          </a:xfrm>
          <a:prstGeom prst="roundRect">
            <a:avLst>
              <a:gd name="adj" fmla="val 6887"/>
            </a:avLst>
          </a:prstGeom>
          <a:solidFill>
            <a:srgbClr val="F9F9FF">
              <a:alpha val="95000"/>
            </a:srgbClr>
          </a:solidFill>
          <a:ln w="22860">
            <a:solidFill>
              <a:srgbClr val="B8BFD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511427" y="6050161"/>
            <a:ext cx="91440" cy="1593294"/>
          </a:xfrm>
          <a:prstGeom prst="roundRect">
            <a:avLst>
              <a:gd name="adj" fmla="val 84651"/>
            </a:avLst>
          </a:prstGeom>
          <a:solidFill>
            <a:srgbClr val="4967E9"/>
          </a:solidFill>
          <a:ln/>
        </p:spPr>
      </p:sp>
      <p:sp>
        <p:nvSpPr>
          <p:cNvPr id="15" name="Text 12"/>
          <p:cNvSpPr/>
          <p:nvPr/>
        </p:nvSpPr>
        <p:spPr>
          <a:xfrm>
            <a:off x="9809917" y="6257211"/>
            <a:ext cx="2303621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Poor Visibility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9809917" y="6634877"/>
            <a:ext cx="3656290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Students and coordinators lack real-time status updates on placement outcomes.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2D9F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0797" y="572929"/>
            <a:ext cx="5312807" cy="70837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7814" y="584121"/>
            <a:ext cx="4341614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Key Objectives</a:t>
            </a:r>
            <a:endParaRPr lang="en-US" sz="3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814" y="1326237"/>
            <a:ext cx="434102" cy="43410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7814" y="1926431"/>
            <a:ext cx="2178010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Centralized Database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607814" y="2277428"/>
            <a:ext cx="7928372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Maintain a single, structured database for all student, company, placement, and internship records.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814" y="3033832"/>
            <a:ext cx="434102" cy="43410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07814" y="3634026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Real-Time Tracking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607814" y="3985022"/>
            <a:ext cx="7928372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Enable coordinators and students to monitor application status and selection outcomes instantly.</a:t>
            </a:r>
            <a:endParaRPr lang="en-US" sz="13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7814" y="4741426"/>
            <a:ext cx="434102" cy="43410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07814" y="5341620"/>
            <a:ext cx="2260640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Relationship Mapping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607814" y="5692616"/>
            <a:ext cx="7928372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Accurately capture relationships between students, companies, internships, placements, and interviews using ER modeling.</a:t>
            </a:r>
            <a:endParaRPr lang="en-US" sz="13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7814" y="6449020"/>
            <a:ext cx="434102" cy="43410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07814" y="7049214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 Integrity</a:t>
            </a:r>
            <a:endParaRPr lang="en-US" sz="1700" dirty="0"/>
          </a:p>
        </p:txBody>
      </p:sp>
      <p:sp>
        <p:nvSpPr>
          <p:cNvPr id="16" name="Text 9"/>
          <p:cNvSpPr/>
          <p:nvPr/>
        </p:nvSpPr>
        <p:spPr>
          <a:xfrm>
            <a:off x="607814" y="7400211"/>
            <a:ext cx="7928372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Eliminate redundancy and ensure consistency through normalized relational database design.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633770"/>
            <a:ext cx="6507004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Entities &amp; Their Attributes</a:t>
            </a:r>
            <a:endParaRPr lang="en-US" sz="4150" dirty="0"/>
          </a:p>
        </p:txBody>
      </p:sp>
      <p:sp>
        <p:nvSpPr>
          <p:cNvPr id="3" name="Shape 1"/>
          <p:cNvSpPr/>
          <p:nvPr/>
        </p:nvSpPr>
        <p:spPr>
          <a:xfrm>
            <a:off x="744260" y="1696879"/>
            <a:ext cx="4247674" cy="2849761"/>
          </a:xfrm>
          <a:prstGeom prst="roundRect">
            <a:avLst>
              <a:gd name="adj" fmla="val 3134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4525" y="1917144"/>
            <a:ext cx="2658070" cy="362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🎓</a:t>
            </a:r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Student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964525" y="2399467"/>
            <a:ext cx="3807143" cy="1926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Student_ID </a:t>
            </a:r>
            <a:pPr algn="l" indent="0" marL="0">
              <a:lnSpc>
                <a:spcPts val="2550"/>
              </a:lnSpc>
              <a:buNone/>
            </a:pPr>
            <a:r>
              <a:rPr lang="en-US" sz="1650" i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(PK)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Name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Email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CGPA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Department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191244" y="1696879"/>
            <a:ext cx="4247793" cy="2849761"/>
          </a:xfrm>
          <a:prstGeom prst="roundRect">
            <a:avLst>
              <a:gd name="adj" fmla="val 3134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11510" y="1917144"/>
            <a:ext cx="2658070" cy="362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🏢</a:t>
            </a:r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Company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5411510" y="2399467"/>
            <a:ext cx="3807262" cy="1926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Company_ID </a:t>
            </a:r>
            <a:pPr algn="l" indent="0" marL="0">
              <a:lnSpc>
                <a:spcPts val="2550"/>
              </a:lnSpc>
              <a:buNone/>
            </a:pPr>
            <a:r>
              <a:rPr lang="en-US" sz="1650" i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(PK)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Company_Name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Industry_Type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Location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HR_Contact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638348" y="1696879"/>
            <a:ext cx="4247793" cy="2849761"/>
          </a:xfrm>
          <a:prstGeom prst="roundRect">
            <a:avLst>
              <a:gd name="adj" fmla="val 3134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58613" y="1917144"/>
            <a:ext cx="2658070" cy="362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📋</a:t>
            </a:r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Placement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9858613" y="2399467"/>
            <a:ext cx="3807262" cy="1926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Placement_ID </a:t>
            </a:r>
            <a:pPr algn="l" indent="0" marL="0">
              <a:lnSpc>
                <a:spcPts val="2550"/>
              </a:lnSpc>
              <a:buNone/>
            </a:pPr>
            <a:r>
              <a:rPr lang="en-US" sz="1650" i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(PK)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Student_ID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Internship_ID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Date_of_Selection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Final_Result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44260" y="4745950"/>
            <a:ext cx="6471285" cy="2849761"/>
          </a:xfrm>
          <a:prstGeom prst="roundRect">
            <a:avLst>
              <a:gd name="adj" fmla="val 3134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4525" y="4966216"/>
            <a:ext cx="2658070" cy="362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💼</a:t>
            </a:r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Internship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964525" y="5448538"/>
            <a:ext cx="6030754" cy="1926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Internship_ID </a:t>
            </a:r>
            <a:pPr algn="l" indent="0" marL="0">
              <a:lnSpc>
                <a:spcPts val="2550"/>
              </a:lnSpc>
              <a:buNone/>
            </a:pPr>
            <a:r>
              <a:rPr lang="en-US" sz="1650" i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(PK)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Company_ID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Stipend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Duration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Internship_Role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414855" y="4745950"/>
            <a:ext cx="6471285" cy="2849761"/>
          </a:xfrm>
          <a:prstGeom prst="roundRect">
            <a:avLst>
              <a:gd name="adj" fmla="val 3134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5121" y="4966216"/>
            <a:ext cx="2658070" cy="362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🎤</a:t>
            </a:r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Interview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7635121" y="5448538"/>
            <a:ext cx="6030754" cy="1926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Interview_ID </a:t>
            </a:r>
            <a:pPr algn="l" indent="0" marL="0">
              <a:lnSpc>
                <a:spcPts val="2550"/>
              </a:lnSpc>
              <a:buNone/>
            </a:pPr>
            <a:r>
              <a:rPr lang="en-US" sz="1650" i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(PK)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Placement_ID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Interview_Date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Round_Type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Result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54831"/>
            <a:ext cx="6599396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Relationships Between Entities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543205" y="2430542"/>
            <a:ext cx="2935724" cy="2132528"/>
          </a:xfrm>
          <a:prstGeom prst="roundRect">
            <a:avLst>
              <a:gd name="adj" fmla="val 5145"/>
            </a:avLst>
          </a:prstGeom>
          <a:solidFill>
            <a:srgbClr val="F9F9FF">
              <a:alpha val="95000"/>
            </a:srgbClr>
          </a:solidFill>
          <a:ln w="22860">
            <a:solidFill>
              <a:srgbClr val="B8BFD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7520345" y="2430542"/>
            <a:ext cx="91440" cy="2132528"/>
          </a:xfrm>
          <a:prstGeom prst="roundRect">
            <a:avLst>
              <a:gd name="adj" fmla="val 83023"/>
            </a:avLst>
          </a:prstGeom>
          <a:solidFill>
            <a:srgbClr val="4967E9"/>
          </a:solidFill>
          <a:ln/>
        </p:spPr>
      </p:sp>
      <p:sp>
        <p:nvSpPr>
          <p:cNvPr id="7" name="Text 3"/>
          <p:cNvSpPr/>
          <p:nvPr/>
        </p:nvSpPr>
        <p:spPr>
          <a:xfrm>
            <a:off x="7815382" y="2634139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Applies For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7815382" y="3060502"/>
            <a:ext cx="2459950" cy="129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Student → Placement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A student applies for one or more placement opportunities (Many-to-Many).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10622875" y="2430542"/>
            <a:ext cx="2935724" cy="2132528"/>
          </a:xfrm>
          <a:prstGeom prst="roundRect">
            <a:avLst>
              <a:gd name="adj" fmla="val 5145"/>
            </a:avLst>
          </a:prstGeom>
          <a:solidFill>
            <a:srgbClr val="F9F9FF">
              <a:alpha val="95000"/>
            </a:srgbClr>
          </a:solidFill>
          <a:ln w="22860">
            <a:solidFill>
              <a:srgbClr val="B8BFD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600015" y="2430542"/>
            <a:ext cx="91440" cy="2132528"/>
          </a:xfrm>
          <a:prstGeom prst="roundRect">
            <a:avLst>
              <a:gd name="adj" fmla="val 83023"/>
            </a:avLst>
          </a:prstGeom>
          <a:solidFill>
            <a:srgbClr val="4967E9"/>
          </a:solidFill>
          <a:ln/>
        </p:spPr>
      </p:sp>
      <p:sp>
        <p:nvSpPr>
          <p:cNvPr id="11" name="Text 7"/>
          <p:cNvSpPr/>
          <p:nvPr/>
        </p:nvSpPr>
        <p:spPr>
          <a:xfrm>
            <a:off x="10895052" y="2634139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Has Interview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10895052" y="3060502"/>
            <a:ext cx="2459950" cy="1039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Placement → Interview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Each placement process involves interview rounds (One-to-Many).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7543205" y="4707017"/>
            <a:ext cx="2935724" cy="1872734"/>
          </a:xfrm>
          <a:prstGeom prst="roundRect">
            <a:avLst>
              <a:gd name="adj" fmla="val 5859"/>
            </a:avLst>
          </a:prstGeom>
          <a:solidFill>
            <a:srgbClr val="F9F9FF">
              <a:alpha val="95000"/>
            </a:srgbClr>
          </a:solidFill>
          <a:ln w="22860">
            <a:solidFill>
              <a:srgbClr val="B8BFD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520345" y="4707017"/>
            <a:ext cx="91440" cy="1872734"/>
          </a:xfrm>
          <a:prstGeom prst="roundRect">
            <a:avLst>
              <a:gd name="adj" fmla="val 83023"/>
            </a:avLst>
          </a:prstGeom>
          <a:solidFill>
            <a:srgbClr val="4967E9"/>
          </a:solidFill>
          <a:ln/>
        </p:spPr>
      </p:sp>
      <p:sp>
        <p:nvSpPr>
          <p:cNvPr id="15" name="Text 11"/>
          <p:cNvSpPr/>
          <p:nvPr/>
        </p:nvSpPr>
        <p:spPr>
          <a:xfrm>
            <a:off x="7815382" y="4910614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Offers</a:t>
            </a:r>
            <a:endParaRPr lang="en-US" sz="1750" dirty="0"/>
          </a:p>
        </p:txBody>
      </p:sp>
      <p:sp>
        <p:nvSpPr>
          <p:cNvPr id="16" name="Text 12"/>
          <p:cNvSpPr/>
          <p:nvPr/>
        </p:nvSpPr>
        <p:spPr>
          <a:xfrm>
            <a:off x="7815382" y="5336977"/>
            <a:ext cx="2459950" cy="1039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Company → Internship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A company offers multiple internship roles (One-to-Many).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10622875" y="4707017"/>
            <a:ext cx="2935724" cy="1872734"/>
          </a:xfrm>
          <a:prstGeom prst="roundRect">
            <a:avLst>
              <a:gd name="adj" fmla="val 5859"/>
            </a:avLst>
          </a:prstGeom>
          <a:solidFill>
            <a:srgbClr val="F9F9FF">
              <a:alpha val="95000"/>
            </a:srgbClr>
          </a:solidFill>
          <a:ln w="22860">
            <a:solidFill>
              <a:srgbClr val="B8BFD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0600015" y="4707017"/>
            <a:ext cx="91440" cy="1872734"/>
          </a:xfrm>
          <a:prstGeom prst="roundRect">
            <a:avLst>
              <a:gd name="adj" fmla="val 83023"/>
            </a:avLst>
          </a:prstGeom>
          <a:solidFill>
            <a:srgbClr val="4967E9"/>
          </a:solidFill>
          <a:ln/>
        </p:spPr>
      </p:sp>
      <p:sp>
        <p:nvSpPr>
          <p:cNvPr id="19" name="Text 15"/>
          <p:cNvSpPr/>
          <p:nvPr/>
        </p:nvSpPr>
        <p:spPr>
          <a:xfrm>
            <a:off x="10895052" y="4910614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Linked To</a:t>
            </a:r>
            <a:endParaRPr lang="en-US" sz="1750" dirty="0"/>
          </a:p>
        </p:txBody>
      </p:sp>
      <p:sp>
        <p:nvSpPr>
          <p:cNvPr id="20" name="Text 16"/>
          <p:cNvSpPr/>
          <p:nvPr/>
        </p:nvSpPr>
        <p:spPr>
          <a:xfrm>
            <a:off x="10895052" y="5336977"/>
            <a:ext cx="2459950" cy="1039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Placement → Internship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A placement record is associated with a specific internship (Many-to-One).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806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ER Diagram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830467"/>
            <a:ext cx="10774323" cy="47501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683573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ER diagram above captures all five entities —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Student, Placement, Interview, Internship,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Company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along with their attributes and inter-relationships, forming the conceptual backbone of the database design.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2114"/>
            <a:ext cx="67512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Database Schema Design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3852" y="1884521"/>
            <a:ext cx="10142696" cy="464200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91188" y="3043506"/>
            <a:ext cx="652132" cy="65213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010178" y="5240786"/>
            <a:ext cx="1904228" cy="733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Constraint Definition</a:t>
            </a:r>
            <a:endParaRPr lang="en-US" sz="23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3771" y="3044729"/>
            <a:ext cx="652132" cy="65213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610329" y="5240786"/>
            <a:ext cx="1904228" cy="733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Table Creation</a:t>
            </a:r>
            <a:endParaRPr lang="en-US" sz="23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16964" y="3044729"/>
            <a:ext cx="652133" cy="65213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223523" y="5240786"/>
            <a:ext cx="1904228" cy="733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Normalization</a:t>
            </a:r>
            <a:endParaRPr lang="en-US" sz="23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17115" y="3044729"/>
            <a:ext cx="652133" cy="652133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784546" y="5424199"/>
            <a:ext cx="1904228" cy="36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ER Modeling</a:t>
            </a:r>
            <a:endParaRPr lang="en-US" sz="2300" dirty="0"/>
          </a:p>
        </p:txBody>
      </p:sp>
      <p:sp>
        <p:nvSpPr>
          <p:cNvPr id="12" name="Text 5"/>
          <p:cNvSpPr/>
          <p:nvPr/>
        </p:nvSpPr>
        <p:spPr>
          <a:xfrm>
            <a:off x="793790" y="678168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Each entity is mapped to a relational table with appropriate primary and foreign keys. Normalization to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Third Normal Form (3NF)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eliminates redundancy and ensures data integrity across all tables.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228" y="618768"/>
            <a:ext cx="4884658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 Implementation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2228" y="1646515"/>
            <a:ext cx="2485906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Sample Table: Student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2228" y="2139434"/>
            <a:ext cx="7082195" cy="2576393"/>
          </a:xfrm>
          <a:prstGeom prst="roundRect">
            <a:avLst>
              <a:gd name="adj" fmla="val 317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5111" y="2255163"/>
            <a:ext cx="137302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Student_ID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655570" y="2255163"/>
            <a:ext cx="136921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Name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22219" y="2255163"/>
            <a:ext cx="136921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Dept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88869" y="2255163"/>
            <a:ext cx="137302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CGPA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5111" y="2768918"/>
            <a:ext cx="137302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S001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655570" y="2768918"/>
            <a:ext cx="136921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MD Asif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22219" y="2768918"/>
            <a:ext cx="136921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88869" y="2768918"/>
            <a:ext cx="137302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8.5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85111" y="3282672"/>
            <a:ext cx="137302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S002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55570" y="3282672"/>
            <a:ext cx="136921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Kunal A.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22219" y="3282672"/>
            <a:ext cx="136921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88869" y="3282672"/>
            <a:ext cx="137302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8.1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85111" y="3796427"/>
            <a:ext cx="137302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S003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655570" y="3796427"/>
            <a:ext cx="136921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Manish 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22219" y="3796427"/>
            <a:ext cx="136921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CSE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88869" y="3796427"/>
            <a:ext cx="137302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7.9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85111" y="4310182"/>
            <a:ext cx="137302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S004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655570" y="4310182"/>
            <a:ext cx="136921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Manas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422219" y="4310182"/>
            <a:ext cx="136921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ECE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188869" y="4310182"/>
            <a:ext cx="137302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8.3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2228" y="4904184"/>
            <a:ext cx="2793683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Sample Table: Internship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682228" y="5397103"/>
            <a:ext cx="7082195" cy="1838801"/>
          </a:xfrm>
          <a:prstGeom prst="roundRect">
            <a:avLst>
              <a:gd name="adj" fmla="val 445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5111" y="5512832"/>
            <a:ext cx="1373029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Internship_ID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655570" y="5512832"/>
            <a:ext cx="136921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Role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422219" y="5512832"/>
            <a:ext cx="136921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Stipend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188869" y="5512832"/>
            <a:ext cx="137302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Duration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85111" y="6316504"/>
            <a:ext cx="137302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I001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2655570" y="6316504"/>
            <a:ext cx="136921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Dev Intern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422219" y="6316504"/>
            <a:ext cx="136921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₹15,000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188869" y="6316504"/>
            <a:ext cx="137302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 months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85111" y="6830258"/>
            <a:ext cx="137302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I002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2655570" y="6830258"/>
            <a:ext cx="136921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 Analyst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422219" y="6830258"/>
            <a:ext cx="136921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₹12,000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188869" y="6830258"/>
            <a:ext cx="137302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6 months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8107204" y="1479113"/>
            <a:ext cx="5988844" cy="6131600"/>
          </a:xfrm>
          <a:prstGeom prst="roundRect">
            <a:avLst>
              <a:gd name="adj" fmla="val 2344"/>
            </a:avLst>
          </a:prstGeom>
          <a:solidFill>
            <a:srgbClr val="4967E9">
              <a:alpha val="95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8302109" y="1646515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Key SQL Operations</a:t>
            </a:r>
            <a:endParaRPr lang="en-US" sz="1900" dirty="0"/>
          </a:p>
        </p:txBody>
      </p:sp>
      <p:sp>
        <p:nvSpPr>
          <p:cNvPr id="41" name="Text 39"/>
          <p:cNvSpPr/>
          <p:nvPr/>
        </p:nvSpPr>
        <p:spPr>
          <a:xfrm>
            <a:off x="8302109" y="2139434"/>
            <a:ext cx="38981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01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8302109" y="2447806"/>
            <a:ext cx="5599033" cy="2286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43" name="Text 41"/>
          <p:cNvSpPr/>
          <p:nvPr/>
        </p:nvSpPr>
        <p:spPr>
          <a:xfrm>
            <a:off x="8302109" y="2590919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DDL Statements</a:t>
            </a:r>
            <a:endParaRPr lang="en-US" sz="1900" dirty="0"/>
          </a:p>
        </p:txBody>
      </p:sp>
      <p:sp>
        <p:nvSpPr>
          <p:cNvPr id="44" name="Text 42"/>
          <p:cNvSpPr/>
          <p:nvPr/>
        </p:nvSpPr>
        <p:spPr>
          <a:xfrm>
            <a:off x="8302109" y="3062883"/>
            <a:ext cx="5599033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CREATE TABLE with PRIMARY KEY and FOREIGN KEY constraints for all 5 entities.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302109" y="3956209"/>
            <a:ext cx="38981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02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8302109" y="4264581"/>
            <a:ext cx="5599033" cy="2286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47" name="Text 45"/>
          <p:cNvSpPr/>
          <p:nvPr/>
        </p:nvSpPr>
        <p:spPr>
          <a:xfrm>
            <a:off x="8302109" y="4407694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DML Operations</a:t>
            </a:r>
            <a:endParaRPr lang="en-US" sz="1900" dirty="0"/>
          </a:p>
        </p:txBody>
      </p:sp>
      <p:sp>
        <p:nvSpPr>
          <p:cNvPr id="48" name="Text 46"/>
          <p:cNvSpPr/>
          <p:nvPr/>
        </p:nvSpPr>
        <p:spPr>
          <a:xfrm>
            <a:off x="8302109" y="4879658"/>
            <a:ext cx="5599033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INSERT, UPDATE, DELETE to manage student and placement records dynamically.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8302109" y="5772983"/>
            <a:ext cx="38981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03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8302109" y="6081355"/>
            <a:ext cx="5599033" cy="2286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51" name="Text 49"/>
          <p:cNvSpPr/>
          <p:nvPr/>
        </p:nvSpPr>
        <p:spPr>
          <a:xfrm>
            <a:off x="8302109" y="6224468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JOIN Queries</a:t>
            </a:r>
            <a:endParaRPr lang="en-US" sz="1900" dirty="0"/>
          </a:p>
        </p:txBody>
      </p:sp>
      <p:sp>
        <p:nvSpPr>
          <p:cNvPr id="52" name="Text 50"/>
          <p:cNvSpPr/>
          <p:nvPr/>
        </p:nvSpPr>
        <p:spPr>
          <a:xfrm>
            <a:off x="8302109" y="6696432"/>
            <a:ext cx="5599033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INNER JOIN across Student, Placement, and Company tables to generate placement reports.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2D9F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105941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2108359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Placement &amp; Internship Tracking System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demonstrates a practical application of DBMS concepts in solving a real-world academic challenge.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280190" y="3452217"/>
            <a:ext cx="7556421" cy="3717846"/>
          </a:xfrm>
          <a:prstGeom prst="roundRect">
            <a:avLst>
              <a:gd name="adj" fmla="val 2562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87810" y="3459837"/>
            <a:ext cx="3770590" cy="2032754"/>
          </a:xfrm>
          <a:prstGeom prst="roundRect">
            <a:avLst>
              <a:gd name="adj" fmla="val 4687"/>
            </a:avLst>
          </a:prstGeom>
          <a:solidFill>
            <a:srgbClr val="D2D9F9"/>
          </a:solidFill>
          <a:ln/>
        </p:spPr>
      </p:sp>
      <p:sp>
        <p:nvSpPr>
          <p:cNvPr id="8" name="Text 5"/>
          <p:cNvSpPr/>
          <p:nvPr/>
        </p:nvSpPr>
        <p:spPr>
          <a:xfrm>
            <a:off x="6514624" y="36866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ER Modeling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14624" y="4177070"/>
            <a:ext cx="331696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5 well-defined entities with clear attributes and relationships.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0058400" y="3459837"/>
            <a:ext cx="3770590" cy="2032754"/>
          </a:xfrm>
          <a:prstGeom prst="rect">
            <a:avLst/>
          </a:prstGeom>
          <a:solidFill>
            <a:srgbClr val="D2D9F9"/>
          </a:solidFill>
          <a:ln/>
        </p:spPr>
      </p:sp>
      <p:sp>
        <p:nvSpPr>
          <p:cNvPr id="11" name="Shape 8"/>
          <p:cNvSpPr/>
          <p:nvPr/>
        </p:nvSpPr>
        <p:spPr>
          <a:xfrm>
            <a:off x="10058400" y="3459837"/>
            <a:ext cx="30480" cy="2032754"/>
          </a:xfrm>
          <a:prstGeom prst="roundRect">
            <a:avLst>
              <a:gd name="adj" fmla="val 312558"/>
            </a:avLst>
          </a:prstGeom>
          <a:solidFill>
            <a:srgbClr val="B8BFDF"/>
          </a:solidFill>
          <a:ln/>
        </p:spPr>
      </p:sp>
      <p:sp>
        <p:nvSpPr>
          <p:cNvPr id="12" name="Text 9"/>
          <p:cNvSpPr/>
          <p:nvPr/>
        </p:nvSpPr>
        <p:spPr>
          <a:xfrm>
            <a:off x="10285214" y="36866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Normalization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285214" y="4177070"/>
            <a:ext cx="331696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Schema designed in 3NF to ensure minimal redundancy and maximum integrity.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6287810" y="5492591"/>
            <a:ext cx="7541181" cy="1669852"/>
          </a:xfrm>
          <a:prstGeom prst="rect">
            <a:avLst/>
          </a:prstGeom>
          <a:solidFill>
            <a:srgbClr val="D2D9F9"/>
          </a:solidFill>
          <a:ln/>
        </p:spPr>
      </p:sp>
      <p:sp>
        <p:nvSpPr>
          <p:cNvPr id="15" name="Shape 12"/>
          <p:cNvSpPr/>
          <p:nvPr/>
        </p:nvSpPr>
        <p:spPr>
          <a:xfrm>
            <a:off x="6287810" y="5492591"/>
            <a:ext cx="7541181" cy="30480"/>
          </a:xfrm>
          <a:prstGeom prst="roundRect">
            <a:avLst>
              <a:gd name="adj" fmla="val 312558"/>
            </a:avLst>
          </a:prstGeom>
          <a:solidFill>
            <a:srgbClr val="B8BFDF"/>
          </a:solidFill>
          <a:ln/>
        </p:spPr>
      </p:sp>
      <p:sp>
        <p:nvSpPr>
          <p:cNvPr id="16" name="Text 13"/>
          <p:cNvSpPr/>
          <p:nvPr/>
        </p:nvSpPr>
        <p:spPr>
          <a:xfrm>
            <a:off x="6514624" y="57194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Real-World Impact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514624" y="6209824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Enables efficient, transparent placement management for academic institutions.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2026-04-29T21:20:02Z</dcterms:created>
  <dcterms:modified xsi:type="dcterms:W3CDTF">2026-04-29T21:20:02Z</dcterms:modified>
</cp:coreProperties>
</file>